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embeddedFontLst>
    <p:embeddedFont>
      <p:font typeface="MiSans" panose="02010600030101010101" charset="-122"/>
      <p:regular r:id="rId19"/>
    </p:embeddedFont>
    <p:embeddedFont>
      <p:font typeface="微软雅黑" panose="020B0503020204020204" pitchFamily="34" charset="-122"/>
      <p:regular r:id="rId20"/>
      <p:bold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A3EA6-5EFB-4266-BB35-22A8B464D111}" v="4" dt="2025-09-23T11:08:11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铂垚 李" userId="6ba5386d4ef1352a" providerId="LiveId" clId="{5FB26A70-D460-4042-B372-369B5AFC4932}"/>
    <pc:docChg chg="delSld modSld">
      <pc:chgData name="张铂垚 李" userId="6ba5386d4ef1352a" providerId="LiveId" clId="{5FB26A70-D460-4042-B372-369B5AFC4932}" dt="2025-09-23T11:11:32.775" v="75" actId="47"/>
      <pc:docMkLst>
        <pc:docMk/>
      </pc:docMkLst>
      <pc:sldChg chg="modSp mod">
        <pc:chgData name="张铂垚 李" userId="6ba5386d4ef1352a" providerId="LiveId" clId="{5FB26A70-D460-4042-B372-369B5AFC4932}" dt="2025-09-23T11:01:48.369" v="33"/>
        <pc:sldMkLst>
          <pc:docMk/>
          <pc:sldMk cId="0" sldId="256"/>
        </pc:sldMkLst>
        <pc:spChg chg="mod">
          <ac:chgData name="张铂垚 李" userId="6ba5386d4ef1352a" providerId="LiveId" clId="{5FB26A70-D460-4042-B372-369B5AFC4932}" dt="2025-09-23T11:01:48.369" v="33"/>
          <ac:spMkLst>
            <pc:docMk/>
            <pc:sldMk cId="0" sldId="256"/>
            <ac:spMk id="5" creationId="{00000000-0000-0000-0000-000000000000}"/>
          </ac:spMkLst>
        </pc:spChg>
        <pc:spChg chg="mod">
          <ac:chgData name="张铂垚 李" userId="6ba5386d4ef1352a" providerId="LiveId" clId="{5FB26A70-D460-4042-B372-369B5AFC4932}" dt="2025-09-23T10:59:09.634" v="1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张铂垚 李" userId="6ba5386d4ef1352a" providerId="LiveId" clId="{5FB26A70-D460-4042-B372-369B5AFC4932}" dt="2025-09-23T11:05:46.870" v="66"/>
        <pc:sldMkLst>
          <pc:docMk/>
          <pc:sldMk cId="0" sldId="262"/>
        </pc:sldMkLst>
        <pc:spChg chg="mod">
          <ac:chgData name="张铂垚 李" userId="6ba5386d4ef1352a" providerId="LiveId" clId="{5FB26A70-D460-4042-B372-369B5AFC4932}" dt="2025-09-23T11:05:18.793" v="3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张铂垚 李" userId="6ba5386d4ef1352a" providerId="LiveId" clId="{5FB26A70-D460-4042-B372-369B5AFC4932}" dt="2025-09-23T11:05:22.848" v="4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张铂垚 李" userId="6ba5386d4ef1352a" providerId="LiveId" clId="{5FB26A70-D460-4042-B372-369B5AFC4932}" dt="2025-09-23T11:05:29.327" v="47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张铂垚 李" userId="6ba5386d4ef1352a" providerId="LiveId" clId="{5FB26A70-D460-4042-B372-369B5AFC4932}" dt="2025-09-23T11:05:36.379" v="48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张铂垚 李" userId="6ba5386d4ef1352a" providerId="LiveId" clId="{5FB26A70-D460-4042-B372-369B5AFC4932}" dt="2025-09-23T11:05:46.870" v="66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张铂垚 李" userId="6ba5386d4ef1352a" providerId="LiveId" clId="{5FB26A70-D460-4042-B372-369B5AFC4932}" dt="2025-09-23T11:08:20.033" v="73" actId="120"/>
        <pc:sldMkLst>
          <pc:docMk/>
          <pc:sldMk cId="0" sldId="263"/>
        </pc:sldMkLst>
        <pc:spChg chg="mod">
          <ac:chgData name="张铂垚 李" userId="6ba5386d4ef1352a" providerId="LiveId" clId="{5FB26A70-D460-4042-B372-369B5AFC4932}" dt="2025-09-23T11:08:20.033" v="73" actId="120"/>
          <ac:spMkLst>
            <pc:docMk/>
            <pc:sldMk cId="0" sldId="263"/>
            <ac:spMk id="6" creationId="{00000000-0000-0000-0000-000000000000}"/>
          </ac:spMkLst>
        </pc:spChg>
      </pc:sldChg>
      <pc:sldChg chg="modSp del mod">
        <pc:chgData name="张铂垚 李" userId="6ba5386d4ef1352a" providerId="LiveId" clId="{5FB26A70-D460-4042-B372-369B5AFC4932}" dt="2025-09-23T11:11:31.320" v="74" actId="47"/>
        <pc:sldMkLst>
          <pc:docMk/>
          <pc:sldMk cId="0" sldId="264"/>
        </pc:sldMkLst>
        <pc:spChg chg="mod">
          <ac:chgData name="张铂垚 李" userId="6ba5386d4ef1352a" providerId="LiveId" clId="{5FB26A70-D460-4042-B372-369B5AFC4932}" dt="2025-09-23T10:21:54.037" v="0" actId="207"/>
          <ac:spMkLst>
            <pc:docMk/>
            <pc:sldMk cId="0" sldId="264"/>
            <ac:spMk id="7" creationId="{00000000-0000-0000-0000-000000000000}"/>
          </ac:spMkLst>
        </pc:spChg>
        <pc:picChg chg="mod">
          <ac:chgData name="张铂垚 李" userId="6ba5386d4ef1352a" providerId="LiveId" clId="{5FB26A70-D460-4042-B372-369B5AFC4932}" dt="2025-09-23T10:22:14.216" v="1" actId="1076"/>
          <ac:picMkLst>
            <pc:docMk/>
            <pc:sldMk cId="0" sldId="264"/>
            <ac:picMk id="18" creationId="{00000000-0000-0000-0000-000000000000}"/>
          </ac:picMkLst>
        </pc:picChg>
      </pc:sldChg>
      <pc:sldChg chg="addSp modSp del mod">
        <pc:chgData name="张铂垚 李" userId="6ba5386d4ef1352a" providerId="LiveId" clId="{5FB26A70-D460-4042-B372-369B5AFC4932}" dt="2025-09-23T11:11:32.775" v="75" actId="47"/>
        <pc:sldMkLst>
          <pc:docMk/>
          <pc:sldMk cId="0" sldId="265"/>
        </pc:sldMkLst>
        <pc:picChg chg="add mod">
          <ac:chgData name="张铂垚 李" userId="6ba5386d4ef1352a" providerId="LiveId" clId="{5FB26A70-D460-4042-B372-369B5AFC4932}" dt="2025-09-23T10:23:19.781" v="7" actId="14100"/>
          <ac:picMkLst>
            <pc:docMk/>
            <pc:sldMk cId="0" sldId="265"/>
            <ac:picMk id="17" creationId="{2B60CDDF-EDA3-B024-9856-F55486645CD5}"/>
          </ac:picMkLst>
        </pc:picChg>
      </pc:sldChg>
      <pc:sldChg chg="modSp mod">
        <pc:chgData name="张铂垚 李" userId="6ba5386d4ef1352a" providerId="LiveId" clId="{5FB26A70-D460-4042-B372-369B5AFC4932}" dt="2025-09-23T10:23:29.870" v="9" actId="1076"/>
        <pc:sldMkLst>
          <pc:docMk/>
          <pc:sldMk cId="0" sldId="267"/>
        </pc:sldMkLst>
        <pc:picChg chg="mod">
          <ac:chgData name="张铂垚 李" userId="6ba5386d4ef1352a" providerId="LiveId" clId="{5FB26A70-D460-4042-B372-369B5AFC4932}" dt="2025-09-23T10:23:29.870" v="9" actId="1076"/>
          <ac:picMkLst>
            <pc:docMk/>
            <pc:sldMk cId="0" sldId="267"/>
            <ac:picMk id="18" creationId="{00000000-0000-0000-0000-000000000000}"/>
          </ac:picMkLst>
        </pc:picChg>
      </pc:sldChg>
      <pc:sldChg chg="modSp mod">
        <pc:chgData name="张铂垚 李" userId="6ba5386d4ef1352a" providerId="LiveId" clId="{5FB26A70-D460-4042-B372-369B5AFC4932}" dt="2025-09-23T10:59:20.993" v="19" actId="20577"/>
        <pc:sldMkLst>
          <pc:docMk/>
          <pc:sldMk cId="0" sldId="273"/>
        </pc:sldMkLst>
        <pc:spChg chg="mod">
          <ac:chgData name="张铂垚 李" userId="6ba5386d4ef1352a" providerId="LiveId" clId="{5FB26A70-D460-4042-B372-369B5AFC4932}" dt="2025-09-23T10:59:20.993" v="19" actId="20577"/>
          <ac:spMkLst>
            <pc:docMk/>
            <pc:sldMk cId="0" sldId="27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7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flip="none" rotWithShape="1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3385" y="3368040"/>
            <a:ext cx="5079365" cy="3112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单目测距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的目标测距</a:t>
            </a:r>
            <a:r>
              <a:rPr lang="en-US" sz="54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装置设计与实现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47318" y="5477510"/>
            <a:ext cx="411162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汇报人：李张铂垚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47318" y="5974715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时间：2025/09/23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9650" y="4872355"/>
            <a:ext cx="59118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0-d2sj6rm1bb2p4onbprjg.jpg"/>
          <p:cNvPicPr>
            <a:picLocks noChangeAspect="1"/>
          </p:cNvPicPr>
          <p:nvPr/>
        </p:nvPicPr>
        <p:blipFill>
          <a:blip r:embed="rId3"/>
          <a:srcRect t="19721" r="44477"/>
          <a:stretch/>
        </p:blipFill>
        <p:spPr>
          <a:xfrm>
            <a:off x="4892675" y="0"/>
            <a:ext cx="729932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403205" cy="685800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71000">
                <a:srgbClr val="9A62FE">
                  <a:alpha val="0"/>
                </a:srgbClr>
              </a:gs>
              <a:gs pos="100000">
                <a:srgbClr val="9A62FE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040320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625" y="205676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55625" y="205676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3175" y="589915"/>
            <a:ext cx="2288540" cy="857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2280000">
            <a:off x="509905" y="739140"/>
            <a:ext cx="734060" cy="72326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4:36:27-d2sj6qu1bb2p4onbpri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40000">
            <a:off x="3284855" y="-2155190"/>
            <a:ext cx="5622290" cy="556387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6200000">
            <a:off x="7287260" y="1793240"/>
            <a:ext cx="6697980" cy="31115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55625" y="298513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6"/>
          <p:cNvSpPr/>
          <p:nvPr/>
        </p:nvSpPr>
        <p:spPr>
          <a:xfrm>
            <a:off x="555625" y="298513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55625" y="391350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8"/>
          <p:cNvSpPr/>
          <p:nvPr/>
        </p:nvSpPr>
        <p:spPr>
          <a:xfrm>
            <a:off x="555625" y="391350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55625" y="4841875"/>
            <a:ext cx="5130800" cy="4438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0"/>
          <p:cNvSpPr/>
          <p:nvPr/>
        </p:nvSpPr>
        <p:spPr>
          <a:xfrm>
            <a:off x="555625" y="4841875"/>
            <a:ext cx="5130800" cy="4438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55625" y="200279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238885" y="200279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研究背景与系统框架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5625" y="2924175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38885" y="2924175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硬件与测距原理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55625" y="3845560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238885" y="3845560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算法与软件实现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5625" y="4766945"/>
            <a:ext cx="59499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238885" y="4766945"/>
            <a:ext cx="4690745" cy="49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实验验证与总结展望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研究背景与系统框架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5-d2sj6su1bb2p4onbpr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6200000">
            <a:off x="9652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7" name="Text 3"/>
          <p:cNvSpPr/>
          <p:nvPr/>
        </p:nvSpPr>
        <p:spPr>
          <a:xfrm rot="16200000">
            <a:off x="9652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16200000">
            <a:off x="-3048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5"/>
          <p:cNvSpPr/>
          <p:nvPr/>
        </p:nvSpPr>
        <p:spPr>
          <a:xfrm rot="16200000">
            <a:off x="-3048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6200000">
            <a:off x="406019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1" name="Text 7"/>
          <p:cNvSpPr/>
          <p:nvPr/>
        </p:nvSpPr>
        <p:spPr>
          <a:xfrm rot="16200000">
            <a:off x="406019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16200000">
            <a:off x="393319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 rot="16200000">
            <a:off x="393319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6200000">
            <a:off x="802386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5" name="Text 11"/>
          <p:cNvSpPr/>
          <p:nvPr/>
        </p:nvSpPr>
        <p:spPr>
          <a:xfrm rot="16200000">
            <a:off x="802386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16200000">
            <a:off x="789686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3"/>
          <p:cNvSpPr/>
          <p:nvPr/>
        </p:nvSpPr>
        <p:spPr>
          <a:xfrm rot="16200000">
            <a:off x="789686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8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2011045" y="2082165"/>
            <a:ext cx="887730" cy="744855"/>
          </a:xfrm>
          <a:prstGeom prst="rect">
            <a:avLst/>
          </a:prstGeom>
        </p:spPr>
      </p:pic>
      <p:pic>
        <p:nvPicPr>
          <p:cNvPr id="1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5947410" y="2082165"/>
            <a:ext cx="887730" cy="7448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9819005" y="2082165"/>
            <a:ext cx="887730" cy="74485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34950" y="701040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低成本单目测距需求与优势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2771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0388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视觉测距技术的应用前景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8928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随着人工智能和机器视觉技术的飞速发展，视觉测距技术在机器人导航、自动驾驶、工业自动化、智能安防等领域展现出巨大的应用潜力。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69138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56755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传统测距方案的局限性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5295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激光雷达成本高昂，双目视觉标定与运算复杂，难以普及。单目视觉仅需一枚摄像头，借小孔成像几何关系即可推算距离，结构极简、硬件成本低、算法轻量化。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65505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53122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本项目的研究意义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51662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本研究旨在探索一种低成本、高精度的单目视觉测距方法，为其在教学演示、智能小车避障等场景中的应用提供参考。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9-d2sj6tu1bb2p4onbpr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V="1">
            <a:off x="-589915" y="495300"/>
            <a:ext cx="6858000" cy="58680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58430" y="-1572895"/>
            <a:ext cx="5327015" cy="52482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747510" y="1352550"/>
            <a:ext cx="382651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系统总体方案与数据流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4-14:36:27-d2sj6qu1bb2p4onbpri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700000">
            <a:off x="-301625" y="269875"/>
            <a:ext cx="628142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90055" y="2249170"/>
            <a:ext cx="2288540" cy="857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系统总体方案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789420" y="3429000"/>
            <a:ext cx="3509645" cy="2693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由OpenMV摄像头、STM32主控、OLED显示三大模块经串口级联。OpenMV完成图像采集、形状识别、像素尺寸提取后，将数据帧通过UART发送至STM32；STM32解析帧内像素值，调用标定参数计算距离与边长，再驱动OLED刷新结果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硬件与测距原理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6720" y="3153410"/>
            <a:ext cx="2527300" cy="76898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1"/>
          <p:cNvSpPr/>
          <p:nvPr/>
        </p:nvSpPr>
        <p:spPr>
          <a:xfrm>
            <a:off x="42672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29305" y="1447165"/>
            <a:ext cx="2527300" cy="76898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329305" y="1447165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34475" y="1447165"/>
            <a:ext cx="2527300" cy="76898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9134475" y="1447165"/>
            <a:ext cx="2527300" cy="7689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硬件选型与接口连接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7260" y="124460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6085" y="3162935"/>
            <a:ext cx="2527300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OpenMV Cam H7 </a:t>
            </a:r>
            <a:r>
              <a:rPr lang="en-US" altLang="zh-CN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Plus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2905" y="3928110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OpenMV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CamH7 Plus集成OV7725传感器与MicroPython，内置色块、圆、边缘检测算法，负责前端视觉运算。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84575" y="461645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29305" y="1441450"/>
            <a:ext cx="252730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STM32F103C8T6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85490" y="2221865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STM32F103C8T6以72MHz主频、64 KB SRAM提供足够浮点运算空间，承担距离公式求解与OLED驱动。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42430" y="134239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31890" y="3153410"/>
            <a:ext cx="2527300" cy="7689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0.96英寸I²C OLED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88075" y="3928110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0.96英寸I²C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OLED自带SSD1306控制器，3.3 V直连，功耗低且户外可读。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14205" y="4287520"/>
            <a:ext cx="2016760" cy="19183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34475" y="1441450"/>
            <a:ext cx="252730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串口连接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90660" y="2221865"/>
            <a:ext cx="2571115" cy="2277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OpenMV引脚P4/TX→STM32 RX，P5/RX→STM32 TX，双方共地，波特率115200。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3-d2sj6uu1bb2p4onbpr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34" y="-43318"/>
            <a:ext cx="7725369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单目测距与边长换算公式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8712" y="1281405"/>
            <a:ext cx="4950843" cy="797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单目测距公式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77681" y="1948504"/>
            <a:ext cx="4950843" cy="14371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采用小孔成像模型：D = (F × W_real) /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W_pixel。其中F为像素焦距，通过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次标定获得；W_real为物体实际尺寸，作为先验输入；W_pixel由OpenMV实时检测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05382" y="3615665"/>
            <a:ext cx="4950843" cy="797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边长换算公式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4165" y="4283075"/>
            <a:ext cx="3947795" cy="239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求出距离D后，可反向计算未知边长W_new = (W_pixel_new × D) / F，实现同帧内多目标尺寸测量。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算法与软件实现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50-d2sj70m1bb2p4onbpru0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23045"/>
          <a:stretch/>
        </p:blipFill>
        <p:spPr>
          <a:xfrm>
            <a:off x="0" y="0"/>
            <a:ext cx="12192000" cy="41052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02260" y="1701165"/>
            <a:ext cx="3400500" cy="442404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5" name="Text 1"/>
          <p:cNvSpPr/>
          <p:nvPr/>
        </p:nvSpPr>
        <p:spPr>
          <a:xfrm>
            <a:off x="302260" y="1701165"/>
            <a:ext cx="3400500" cy="4424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44500" y="1954530"/>
            <a:ext cx="2215515" cy="782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核心测距算法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02260" y="2511192"/>
            <a:ext cx="3400500" cy="7523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公式:距离D= (F * W_real) / W_pixel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校准：在已知距离DISTANCE_MM_2处，测得帧的像素宽度FRAME_WIDTH_PIXEL_2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DISTANCE_MM_2 = 250 # 标定距离：250mm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FRAME_WIDTH_PIXEL_2 = 182 # 在250mm处，帧的像素宽度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实时计算：测得的当前帧像素宽度为 frame_blob.w()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distance = DISTANCE_MM_2 * FRAME_WIDTH_PIXEL_2 / frame_blob.w()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031506" y="1684655"/>
            <a:ext cx="3516104" cy="442404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9" name="Text 5"/>
          <p:cNvSpPr/>
          <p:nvPr/>
        </p:nvSpPr>
        <p:spPr>
          <a:xfrm>
            <a:off x="4031506" y="1684655"/>
            <a:ext cx="3516104" cy="4424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40300" y="1938020"/>
            <a:ext cx="2215515" cy="782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校准模块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031506" y="2635118"/>
            <a:ext cx="3304968" cy="31064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通过多点校准大幅减少误差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03645" y="1684655"/>
            <a:ext cx="3968010" cy="442404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3" name="Text 9"/>
          <p:cNvSpPr/>
          <p:nvPr/>
        </p:nvSpPr>
        <p:spPr>
          <a:xfrm>
            <a:off x="8003645" y="1684655"/>
            <a:ext cx="3968010" cy="4424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933458" y="1938020"/>
            <a:ext cx="2646402" cy="782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核心测尺寸算法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363710" y="2887345"/>
            <a:ext cx="2432685" cy="31064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点击此处编辑段落正文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核心代码</a:t>
            </a:r>
            <a:endParaRPr lang="en-US" sz="1600" dirty="0"/>
          </a:p>
        </p:txBody>
      </p:sp>
      <p:pic>
        <p:nvPicPr>
          <p:cNvPr id="17" name="Image 2" descr="https://kimi-img.moonshot.cn/pub/slides/25-09-15-21:48:12-d341i75r1r8pjggcde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506" y="3335615"/>
            <a:ext cx="3516104" cy="2789595"/>
          </a:xfrm>
          <a:prstGeom prst="rect">
            <a:avLst/>
          </a:prstGeom>
        </p:spPr>
      </p:pic>
      <p:pic>
        <p:nvPicPr>
          <p:cNvPr id="18" name="Image 3" descr="https://kimi-img.moonshot.cn/pub/slides/25-09-15-21:57:09-d341md8gts4eq7p8i1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5801" y="2736850"/>
            <a:ext cx="3968010" cy="5102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70563" y="3378522"/>
            <a:ext cx="3667794" cy="1056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原理：将整个黑色外框作为已知尺寸的“标尺”。通过计算目标物体与外框的像素比例，直接换算出物体的实际物理尺寸。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764" y="1047938"/>
            <a:ext cx="4739640" cy="485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图形判断模块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9405" y="445135"/>
            <a:ext cx="11475720" cy="5359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319405" y="445135"/>
            <a:ext cx="11475720" cy="5359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0800000">
            <a:off x="319405" y="5839460"/>
            <a:ext cx="11475085" cy="653415"/>
          </a:xfrm>
          <a:prstGeom prst="round2SameRect">
            <a:avLst>
              <a:gd name="adj1" fmla="val 34095"/>
              <a:gd name="adj2" fmla="val 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 rot="10800000">
            <a:off x="319405" y="5839460"/>
            <a:ext cx="11475085" cy="653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0" descr="https://kimi-img.moonshot.cn/pub/slides/slides_tmpl/image/25-09-04-14:36:34-d2sj6sm1bb2p4onbpr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765" y="6022975"/>
            <a:ext cx="235585" cy="3054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15105" y="522605"/>
            <a:ext cx="40824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核心代码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99" y="1533078"/>
            <a:ext cx="5439331" cy="4029877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2" name="Shape 9"/>
          <p:cNvSpPr/>
          <p:nvPr/>
        </p:nvSpPr>
        <p:spPr>
          <a:xfrm>
            <a:off x="6346074" y="1533078"/>
            <a:ext cx="5317106" cy="4029877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pic>
        <p:nvPicPr>
          <p:cNvPr id="13" name="Image 1" descr="https://kimi-img.moonshot.cn/pub/slides/25-09-15-22:03:25-d341pben3mkbmbeiub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99" y="3319810"/>
            <a:ext cx="5439331" cy="22431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805" y="1570898"/>
            <a:ext cx="5401852" cy="1320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原理：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 * 的包围盒内像素填充率最高，密度接近1。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正方形 * 次之。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三角形 * 的填充率最低。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*通过设定合理的密度阈值区间来区分不同形状。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56350" y="1047938"/>
            <a:ext cx="5438775" cy="485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系统通信流程（OpenMV -&gt; STM32）</a:t>
            </a:r>
            <a:endParaRPr lang="en-US" sz="1600" dirty="0"/>
          </a:p>
        </p:txBody>
      </p:sp>
      <p:pic>
        <p:nvPicPr>
          <p:cNvPr id="16" name="Image 2" descr="https://kimi-img.moonshot.cn/pub/slides/25-09-15-22:20:58-d3421ikqdqeg8vf1tmd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074" y="2761541"/>
            <a:ext cx="5317106" cy="25912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3958" y="1612936"/>
            <a:ext cx="5275738" cy="5282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将数据以位的方式逐个数据帧的方式发送到STM32单片机中，以达到数据包的发送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8-d2sj7061bb2p4onbprt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55" y="1539875"/>
            <a:ext cx="2598420" cy="44354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4044950" y="1677670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555750"/>
            <a:ext cx="781050" cy="60388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044950" y="3171825"/>
            <a:ext cx="7745095" cy="36893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3"/>
          <p:cNvSpPr/>
          <p:nvPr/>
        </p:nvSpPr>
        <p:spPr>
          <a:xfrm>
            <a:off x="4044950" y="3171825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4044950" y="4650740"/>
            <a:ext cx="7745095" cy="36893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0" name="Text 5"/>
          <p:cNvSpPr/>
          <p:nvPr/>
        </p:nvSpPr>
        <p:spPr>
          <a:xfrm>
            <a:off x="4044950" y="4650740"/>
            <a:ext cx="7745095" cy="3689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3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650" y="3048635"/>
            <a:ext cx="781050" cy="60388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160" y="4541520"/>
            <a:ext cx="781050" cy="60388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STM32端计算与显示流程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044949" y="1677670"/>
            <a:ext cx="7732395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串口接收与解析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4044950" y="206184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STM32以中断方式接收串口缓存，检测到'$'开始记录，遇到'\n'结束并校验长度。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044950" y="3171825"/>
            <a:ext cx="776478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距离与边长计算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044950" y="3556000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解析出像素宽后，代入标定好的F值，用浮点运算求D与边长，结果限幅0–999 cm避免溢出。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044950" y="4650740"/>
            <a:ext cx="7732394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OLED显示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044950" y="503491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随后刷新OLED：首行显示距离.mm，第二行显示边长.cm，第三行显示像素宽度便于调试，刷新周期&lt;100 ms。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实验验证与总结展望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5-d2sj6su1bb2p4onbpr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966460" y="1495425"/>
            <a:ext cx="5441950" cy="1814195"/>
          </a:xfrm>
          <a:prstGeom prst="rect">
            <a:avLst/>
          </a:prstGeom>
          <a:solidFill>
            <a:srgbClr val="262626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66460" y="1495425"/>
            <a:ext cx="5441950" cy="18141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05500" y="1463040"/>
            <a:ext cx="5339080" cy="171259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5905500" y="1463040"/>
            <a:ext cx="5339080" cy="17125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42-d2sj6um1bb2p4onbpr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10" y="1463040"/>
            <a:ext cx="5100955" cy="43402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测量误差分析与改进方向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966460" y="3993515"/>
            <a:ext cx="5441950" cy="1814195"/>
          </a:xfrm>
          <a:prstGeom prst="rect">
            <a:avLst/>
          </a:prstGeom>
          <a:solidFill>
            <a:srgbClr val="262626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66460" y="3993515"/>
            <a:ext cx="5441950" cy="18141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905500" y="3961130"/>
            <a:ext cx="5339080" cy="171259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15" name="Text 10"/>
          <p:cNvSpPr/>
          <p:nvPr/>
        </p:nvSpPr>
        <p:spPr>
          <a:xfrm>
            <a:off x="5905500" y="3961130"/>
            <a:ext cx="5339080" cy="17125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905500" y="144780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误差分析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65495" y="1844675"/>
            <a:ext cx="533908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在LED室内照明下，对5 cm边长标准卡进行20–200 cm距离测试，平均绝对误差3.6%，最大误差5.1%，误差随距离线性增加，主要源于镜头约1.2%桶形畸变、被测面与光轴不严格垂直及像素量化误差。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905500" y="3945890"/>
            <a:ext cx="3498850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改进方向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865495" y="4342765"/>
            <a:ext cx="5339080" cy="124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下一步拟采用分段线性校正与二次拟合补偿，将误差压至2%以内；同时引入AprilTag作为参照，可在未知物体场景实现自动标定，消除对先验W_real的依赖。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405" y="445135"/>
            <a:ext cx="11475720" cy="5359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19405" y="445135"/>
            <a:ext cx="11475720" cy="5359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0800000">
            <a:off x="319405" y="5839460"/>
            <a:ext cx="11475085" cy="653415"/>
          </a:xfrm>
          <a:prstGeom prst="round2SameRect">
            <a:avLst>
              <a:gd name="adj1" fmla="val 34095"/>
              <a:gd name="adj2" fmla="val 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 rot="10800000">
            <a:off x="319405" y="5839460"/>
            <a:ext cx="11475085" cy="653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" name="Image 0" descr="https://kimi-img.moonshot.cn/pub/slides/slides_tmpl/image/25-09-04-14:36:37-d2sj6te1bb2p4onbpr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" y="1680210"/>
            <a:ext cx="11377295" cy="396811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4-14:36:34-d2sj6sm1bb2p4onbpr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0765" y="6022975"/>
            <a:ext cx="235585" cy="3054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15105" y="522605"/>
            <a:ext cx="40824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项目成果总结与未来拓展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19405" y="1195070"/>
            <a:ext cx="4739640" cy="485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项目成果总结与未来拓展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19405" y="1795145"/>
            <a:ext cx="11474450" cy="12204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设计验证了单目视觉低成本测距的可行性，完整地实现了从硬件搭建、算法开发到系统调试的全流程，形成一套可复制的教学与竞赛平台。系统仅用两颗主流芯片即完成采集—识别—计算—显示闭环，物料成本不足百元，却达到传统双目或TOF方案在短距范围内的同等精度。未来将在算法端引入深度学习目标检测，在通信端增加ESP32 Wi-Fi上传，在应用端部署于ROS小车实现动态避障，逐步把课堂演示原型升级为可量产的智能感知节点。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flip="none" rotWithShape="1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8293" y="5477510"/>
            <a:ext cx="411162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汇报人：李张铂垚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8293" y="5974715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时间：2025/09/23</a:t>
            </a:r>
          </a:p>
        </p:txBody>
      </p:sp>
      <p:pic>
        <p:nvPicPr>
          <p:cNvPr id="9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13" y="4872355"/>
            <a:ext cx="591185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8610" y="2062480"/>
            <a:ext cx="5326380" cy="1801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551</Words>
  <Application>Microsoft Office PowerPoint</Application>
  <PresentationFormat>宽屏</PresentationFormat>
  <Paragraphs>107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MiSans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单目测距装置设计与实现</dc:title>
  <dc:subject>单目测距装置设计与实现</dc:subject>
  <dc:creator>Kimi</dc:creator>
  <cp:lastModifiedBy>张铂垚 李</cp:lastModifiedBy>
  <cp:revision>1</cp:revision>
  <dcterms:created xsi:type="dcterms:W3CDTF">2025-09-15T14:22:27Z</dcterms:created>
  <dcterms:modified xsi:type="dcterms:W3CDTF">2025-09-23T11:11:40Z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{"Label":"单目测距装置设计与实现","ContentProducer":"001191110108MACG2KBH8F10000","ProduceID":"d341ftbacc4341e3u2og","ReservedCode1":"","ContentPropagator":"001191110108MACG2KBH8F20000","PropagateID":"d341ftbacc4341e3u2og","ReservedCode2":""}</vt:lpwstr>
  </property>
</Properties>
</file>